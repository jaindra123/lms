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72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>
                <a:solidFill>
                  <a:srgbClr val="004274"/>
                </a:solidFill>
              </a:rPr>
              <a:t>IIIDEM Certification LMS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t>Moodle-based learning platform</a:t>
            </a:r>
          </a:p>
          <a:p>
            <a:r>
              <a:t>Live Webex classes · MCQ assessments · Teacher dashboard</a:t>
            </a:r>
          </a:p>
          <a:p>
            <a:r>
              <a:t>iiidem-certification.ddev.site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04274"/>
                </a:solidFill>
                <a:latin typeface="Calibri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Public marketing site &amp; course catalogue</a:t>
            </a:r>
          </a:p>
          <a:p>
            <a:pPr>
              <a:defRPr sz="2000">
                <a:latin typeface="Calibri"/>
              </a:defRPr>
            </a:pPr>
            <a:r>
              <a:t>Student &amp; teacher dashboards (theme_iiidem2)</a:t>
            </a:r>
          </a:p>
          <a:p>
            <a:pPr>
              <a:defRPr sz="2000">
                <a:latin typeface="Calibri"/>
              </a:defRPr>
            </a:pPr>
            <a:r>
              <a:t>Live Webex virtual classroom pages</a:t>
            </a:r>
          </a:p>
          <a:p>
            <a:pPr>
              <a:defRPr sz="2000">
                <a:latin typeface="Calibri"/>
              </a:defRPr>
            </a:pPr>
            <a:r>
              <a:t>Live class MCQ during sessions (local_iiidem_livequiz)</a:t>
            </a:r>
          </a:p>
          <a:p>
            <a:pPr>
              <a:defRPr sz="2000">
                <a:latin typeface="Calibri"/>
              </a:defRPr>
            </a:pPr>
            <a:r>
              <a:t>Quiz assessments &amp; teacher reporting</a:t>
            </a:r>
          </a:p>
          <a:p>
            <a:pPr>
              <a:defRPr sz="2000">
                <a:latin typeface="Calibri"/>
              </a:defRPr>
            </a:pPr>
            <a:r>
              <a:t>Payment gateway (PNB) for course enrolment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04274"/>
                </a:solidFill>
                <a:latin typeface="Calibri"/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rPr dirty="0"/>
              <a:t>Moodle 4.5 LMS (core platform)</a:t>
            </a:r>
          </a:p>
          <a:p>
            <a:pPr>
              <a:defRPr sz="2000">
                <a:latin typeface="Calibri"/>
              </a:defRPr>
            </a:pPr>
            <a:r>
              <a:rPr dirty="0"/>
              <a:t>Custom theme: theme/iiidem2</a:t>
            </a:r>
          </a:p>
          <a:p>
            <a:pPr>
              <a:defRPr sz="2000">
                <a:latin typeface="Calibri"/>
              </a:defRPr>
            </a:pPr>
            <a:r>
              <a:rPr dirty="0"/>
              <a:t>Local plugins: </a:t>
            </a:r>
            <a:r>
              <a:rPr dirty="0" err="1"/>
              <a:t>coursereviews</a:t>
            </a:r>
            <a:r>
              <a:rPr dirty="0"/>
              <a:t>, </a:t>
            </a:r>
            <a:r>
              <a:rPr dirty="0" err="1"/>
              <a:t>iiidem_livequiz</a:t>
            </a:r>
            <a:r>
              <a:rPr dirty="0"/>
              <a:t>, PNB payment </a:t>
            </a:r>
            <a:r>
              <a:rPr dirty="0" smtClean="0"/>
              <a:t>gateway</a:t>
            </a:r>
            <a:r>
              <a:rPr lang="en-US" dirty="0" smtClean="0"/>
              <a:t>, </a:t>
            </a:r>
            <a:r>
              <a:rPr lang="en-US" dirty="0" err="1" smtClean="0"/>
              <a:t>Faq</a:t>
            </a:r>
            <a:endParaRPr dirty="0"/>
          </a:p>
          <a:p>
            <a:pPr>
              <a:defRPr sz="2000">
                <a:latin typeface="Calibri"/>
              </a:defRPr>
            </a:pPr>
            <a:r>
              <a:rPr dirty="0"/>
              <a:t>Activities: Page (</a:t>
            </a:r>
            <a:r>
              <a:rPr dirty="0" err="1"/>
              <a:t>Webex</a:t>
            </a:r>
            <a:r>
              <a:rPr dirty="0"/>
              <a:t>), Quiz, Attendance, Certificate</a:t>
            </a:r>
          </a:p>
          <a:p>
            <a:pPr>
              <a:defRPr sz="2000">
                <a:latin typeface="Calibri"/>
              </a:defRPr>
            </a:pPr>
            <a:r>
              <a:rPr dirty="0"/>
              <a:t>DDEV local environment for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Moodle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Moodle </a:t>
            </a:r>
            <a:r>
              <a:rPr lang="en-IN" b="1" dirty="0">
                <a:sym typeface="Wingdings"/>
              </a:rPr>
              <a:t></a:t>
            </a:r>
            <a:r>
              <a:rPr lang="en-IN" b="1" dirty="0"/>
              <a:t> Modular Object-Oriented Dynamic Learning Environment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It is a free and open-source </a:t>
            </a:r>
            <a:r>
              <a:rPr lang="en-IN" b="1" dirty="0"/>
              <a:t>Learning Management System (LMS)</a:t>
            </a:r>
            <a:r>
              <a:rPr lang="en-IN" dirty="0"/>
              <a:t> </a:t>
            </a:r>
          </a:p>
          <a:p>
            <a:r>
              <a:rPr lang="en-IN" dirty="0"/>
              <a:t>Used to create, manage, deliver, and track online learning, training programs, and certification </a:t>
            </a:r>
            <a:r>
              <a:rPr lang="en-IN" dirty="0" err="1"/>
              <a:t>courses.Built</a:t>
            </a:r>
            <a:r>
              <a:rPr lang="en-IN" dirty="0"/>
              <a:t> on PHP.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8559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Why Use Moodle?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34144"/>
            <a:ext cx="8229600" cy="5092020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1. Cost Effective</a:t>
            </a:r>
            <a:endParaRPr lang="en-IN" dirty="0"/>
          </a:p>
          <a:p>
            <a:pPr lvl="1"/>
            <a:r>
              <a:rPr lang="en-IN" dirty="0"/>
              <a:t>Open-source software </a:t>
            </a:r>
          </a:p>
          <a:p>
            <a:pPr lvl="1"/>
            <a:r>
              <a:rPr lang="en-IN" dirty="0"/>
              <a:t>No license fees </a:t>
            </a:r>
          </a:p>
          <a:p>
            <a:pPr lvl="1"/>
            <a:r>
              <a:rPr lang="en-IN" dirty="0"/>
              <a:t>Lower total cost compared to many commercial LMS platforms </a:t>
            </a:r>
          </a:p>
          <a:p>
            <a:r>
              <a:rPr lang="en-IN" b="1" dirty="0"/>
              <a:t>2. Course Management</a:t>
            </a:r>
            <a:endParaRPr lang="en-IN" dirty="0"/>
          </a:p>
          <a:p>
            <a:pPr lvl="1"/>
            <a:r>
              <a:rPr lang="en-IN" dirty="0"/>
              <a:t>Create unlimited courses </a:t>
            </a:r>
          </a:p>
          <a:p>
            <a:pPr lvl="1"/>
            <a:r>
              <a:rPr lang="en-IN" dirty="0"/>
              <a:t>Organize courses into categories </a:t>
            </a:r>
          </a:p>
          <a:p>
            <a:pPr lvl="1"/>
            <a:r>
              <a:rPr lang="en-IN" dirty="0"/>
              <a:t>Upload videos, PDFs, presentations, and documents </a:t>
            </a:r>
          </a:p>
          <a:p>
            <a:pPr lvl="1"/>
            <a:r>
              <a:rPr lang="en-IN" dirty="0"/>
              <a:t>Support self-paced and instructor-led learning </a:t>
            </a:r>
          </a:p>
          <a:p>
            <a:r>
              <a:rPr lang="en-IN" b="1" dirty="0"/>
              <a:t>3. Online Assessments</a:t>
            </a:r>
            <a:endParaRPr lang="en-IN" dirty="0"/>
          </a:p>
          <a:p>
            <a:pPr lvl="1"/>
            <a:r>
              <a:rPr lang="en-IN" dirty="0"/>
              <a:t>Create quizzes and examinations </a:t>
            </a:r>
          </a:p>
          <a:p>
            <a:pPr lvl="1"/>
            <a:r>
              <a:rPr lang="en-IN" dirty="0"/>
              <a:t>Question banks </a:t>
            </a:r>
          </a:p>
          <a:p>
            <a:pPr lvl="1"/>
            <a:r>
              <a:rPr lang="en-IN" dirty="0"/>
              <a:t>Multiple question types </a:t>
            </a:r>
          </a:p>
          <a:p>
            <a:pPr lvl="1"/>
            <a:r>
              <a:rPr lang="en-IN" dirty="0"/>
              <a:t>Automatic grading </a:t>
            </a:r>
          </a:p>
          <a:p>
            <a:r>
              <a:rPr lang="en-IN" b="1" dirty="0"/>
              <a:t>4. Certification</a:t>
            </a:r>
            <a:endParaRPr lang="en-IN" dirty="0"/>
          </a:p>
          <a:p>
            <a:pPr lvl="1"/>
            <a:r>
              <a:rPr lang="en-IN" dirty="0"/>
              <a:t>Generate certificates automatically after course completion </a:t>
            </a:r>
          </a:p>
          <a:p>
            <a:pPr lvl="1"/>
            <a:r>
              <a:rPr lang="en-IN" dirty="0"/>
              <a:t>Define completion criteria </a:t>
            </a:r>
          </a:p>
          <a:p>
            <a:pPr lvl="1"/>
            <a:r>
              <a:rPr lang="en-IN" dirty="0"/>
              <a:t>Useful for training and certification programs </a:t>
            </a:r>
            <a:endParaRPr lang="en-IN" dirty="0" smtClean="0"/>
          </a:p>
          <a:p>
            <a:pPr marL="457200" lvl="1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4563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9458"/>
            <a:ext cx="8229600" cy="5026706"/>
          </a:xfrm>
        </p:spPr>
        <p:txBody>
          <a:bodyPr>
            <a:normAutofit fontScale="40000" lnSpcReduction="20000"/>
          </a:bodyPr>
          <a:lstStyle/>
          <a:p>
            <a:r>
              <a:rPr lang="en-IN" b="1" dirty="0"/>
              <a:t>5. Learning Tracking</a:t>
            </a:r>
            <a:endParaRPr lang="en-IN" dirty="0"/>
          </a:p>
          <a:p>
            <a:pPr lvl="1"/>
            <a:r>
              <a:rPr lang="en-IN" dirty="0"/>
              <a:t>Monitor learner progress </a:t>
            </a:r>
          </a:p>
          <a:p>
            <a:pPr lvl="1"/>
            <a:r>
              <a:rPr lang="en-IN" dirty="0"/>
              <a:t>Track course completion </a:t>
            </a:r>
          </a:p>
          <a:p>
            <a:pPr lvl="1"/>
            <a:r>
              <a:rPr lang="en-IN" dirty="0"/>
              <a:t>View grades and performance reports </a:t>
            </a:r>
          </a:p>
          <a:p>
            <a:r>
              <a:rPr lang="en-IN" b="1" dirty="0"/>
              <a:t>6. User Management</a:t>
            </a:r>
            <a:endParaRPr lang="en-IN" dirty="0"/>
          </a:p>
          <a:p>
            <a:pPr lvl="1"/>
            <a:r>
              <a:rPr lang="en-IN" dirty="0"/>
              <a:t>Different roles can be assigned:</a:t>
            </a:r>
          </a:p>
          <a:p>
            <a:pPr lvl="1"/>
            <a:r>
              <a:rPr lang="en-IN" dirty="0"/>
              <a:t>Administrator </a:t>
            </a:r>
          </a:p>
          <a:p>
            <a:pPr lvl="1"/>
            <a:r>
              <a:rPr lang="en-IN" dirty="0"/>
              <a:t>Manager </a:t>
            </a:r>
          </a:p>
          <a:p>
            <a:pPr lvl="1"/>
            <a:r>
              <a:rPr lang="en-IN" dirty="0"/>
              <a:t>Teacher </a:t>
            </a:r>
          </a:p>
          <a:p>
            <a:pPr lvl="1"/>
            <a:r>
              <a:rPr lang="en-IN" dirty="0"/>
              <a:t>Student </a:t>
            </a:r>
          </a:p>
          <a:p>
            <a:pPr lvl="1"/>
            <a:r>
              <a:rPr lang="en-IN" dirty="0"/>
              <a:t>Guest </a:t>
            </a:r>
          </a:p>
          <a:p>
            <a:r>
              <a:rPr lang="en-IN" b="1" dirty="0"/>
              <a:t>7. Communication &amp; Collaboration</a:t>
            </a:r>
            <a:endParaRPr lang="en-IN" dirty="0"/>
          </a:p>
          <a:p>
            <a:pPr lvl="1"/>
            <a:r>
              <a:rPr lang="en-IN" dirty="0"/>
              <a:t>Discussion forums </a:t>
            </a:r>
          </a:p>
          <a:p>
            <a:pPr lvl="1"/>
            <a:r>
              <a:rPr lang="en-IN" dirty="0"/>
              <a:t>Announcements </a:t>
            </a:r>
          </a:p>
          <a:p>
            <a:pPr lvl="1"/>
            <a:r>
              <a:rPr lang="en-IN" dirty="0"/>
              <a:t>Messaging </a:t>
            </a:r>
          </a:p>
          <a:p>
            <a:pPr lvl="1"/>
            <a:r>
              <a:rPr lang="en-IN" dirty="0"/>
              <a:t>Feedback and surveys </a:t>
            </a:r>
          </a:p>
          <a:p>
            <a:r>
              <a:rPr lang="en-IN" b="1" dirty="0"/>
              <a:t>8. Integration Capabilities</a:t>
            </a:r>
            <a:endParaRPr lang="en-IN" dirty="0"/>
          </a:p>
          <a:p>
            <a:pPr lvl="1"/>
            <a:r>
              <a:rPr lang="en-IN" dirty="0"/>
              <a:t>Can integrate with:</a:t>
            </a:r>
          </a:p>
          <a:p>
            <a:pPr lvl="1"/>
            <a:r>
              <a:rPr lang="en-IN" dirty="0"/>
              <a:t>Payment gateways (PNB) </a:t>
            </a:r>
          </a:p>
          <a:p>
            <a:pPr lvl="1"/>
            <a:r>
              <a:rPr lang="en-IN" dirty="0"/>
              <a:t>Video conferencing (</a:t>
            </a:r>
            <a:r>
              <a:rPr lang="en-IN" dirty="0" err="1"/>
              <a:t>Webex</a:t>
            </a:r>
            <a:r>
              <a:rPr lang="en-IN" dirty="0"/>
              <a:t>, Zoom, Teams) </a:t>
            </a:r>
          </a:p>
          <a:p>
            <a:r>
              <a:rPr lang="en-IN" b="1" dirty="0"/>
              <a:t>9. Mobile Learning</a:t>
            </a:r>
            <a:endParaRPr lang="en-IN" dirty="0"/>
          </a:p>
          <a:p>
            <a:pPr lvl="1"/>
            <a:r>
              <a:rPr lang="en-IN" dirty="0"/>
              <a:t>Accessible from mobile devices </a:t>
            </a:r>
          </a:p>
          <a:p>
            <a:pPr lvl="1"/>
            <a:r>
              <a:rPr lang="en-IN" dirty="0"/>
              <a:t>Dedicated mobile app available </a:t>
            </a:r>
          </a:p>
          <a:p>
            <a:pPr lvl="1"/>
            <a:r>
              <a:rPr lang="en-IN" dirty="0"/>
              <a:t>Learn anytime, anywhere </a:t>
            </a:r>
          </a:p>
          <a:p>
            <a:r>
              <a:rPr lang="en-IN" b="1" dirty="0"/>
              <a:t>10. Security &amp; Scalability</a:t>
            </a:r>
            <a:endParaRPr lang="en-IN" dirty="0"/>
          </a:p>
          <a:p>
            <a:pPr lvl="1"/>
            <a:r>
              <a:rPr lang="en-IN" dirty="0"/>
              <a:t>Role-based access control </a:t>
            </a:r>
          </a:p>
          <a:p>
            <a:pPr lvl="1"/>
            <a:r>
              <a:rPr lang="en-IN" dirty="0"/>
              <a:t>Secure authentication </a:t>
            </a:r>
          </a:p>
          <a:p>
            <a:pPr lvl="1"/>
            <a:r>
              <a:rPr lang="en-IN" dirty="0"/>
              <a:t>Suitable for small organizations as well as large-scale deployments with thousands of users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9453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for </a:t>
            </a:r>
            <a:r>
              <a:rPr lang="en-IN" dirty="0" err="1"/>
              <a:t>moodle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IN" dirty="0"/>
              <a:t>Online course enrolment</a:t>
            </a:r>
          </a:p>
          <a:p>
            <a:pPr lvl="0"/>
            <a:r>
              <a:rPr lang="en-IN" dirty="0"/>
              <a:t>Paid course registration via payment gateway</a:t>
            </a:r>
          </a:p>
          <a:p>
            <a:pPr lvl="0"/>
            <a:r>
              <a:rPr lang="en-IN" dirty="0"/>
              <a:t>Weekend training programs</a:t>
            </a:r>
          </a:p>
          <a:p>
            <a:pPr lvl="0"/>
            <a:r>
              <a:rPr lang="en-IN" dirty="0"/>
              <a:t>Automated certificates</a:t>
            </a:r>
          </a:p>
          <a:p>
            <a:pPr lvl="0"/>
            <a:r>
              <a:rPr lang="en-IN" dirty="0"/>
              <a:t>Student progress tracking</a:t>
            </a:r>
          </a:p>
          <a:p>
            <a:pPr lvl="0"/>
            <a:r>
              <a:rPr lang="en-IN" dirty="0"/>
              <a:t>Attendance management</a:t>
            </a:r>
          </a:p>
          <a:p>
            <a:pPr lvl="0"/>
            <a:r>
              <a:rPr lang="en-IN" dirty="0"/>
              <a:t>Online examinations</a:t>
            </a:r>
          </a:p>
          <a:p>
            <a:pPr lvl="0"/>
            <a:r>
              <a:rPr lang="en-IN" dirty="0"/>
              <a:t>Dashboard for students and administrators</a:t>
            </a:r>
          </a:p>
          <a:p>
            <a:pPr lvl="0"/>
            <a:r>
              <a:rPr lang="en-IN" dirty="0"/>
              <a:t>Reporting and analytics</a:t>
            </a:r>
          </a:p>
          <a:p>
            <a:pPr lvl="0"/>
            <a:r>
              <a:rPr lang="en-IN"/>
              <a:t>Foreign and domestic learner support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0109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4274"/>
                </a:solidFill>
              </a:rPr>
              <a:t>Home page</a:t>
            </a:r>
          </a:p>
        </p:txBody>
      </p:sp>
      <p:pic>
        <p:nvPicPr>
          <p:cNvPr id="3" name="Picture 2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2580"/>
            <a:ext cx="8412480" cy="47320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A2540"/>
                </a:solidFill>
              </a:defRPr>
            </a:pPr>
            <a:r>
              <a:t>Marketing front page with course catalogue and IIIDEM branding.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4274"/>
                </a:solidFill>
              </a:rPr>
              <a:t>Login</a:t>
            </a:r>
          </a:p>
        </p:txBody>
      </p:sp>
      <p:pic>
        <p:nvPicPr>
          <p:cNvPr id="3" name="Picture 2" descr="02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47320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A2540"/>
                </a:solidFill>
              </a:defRPr>
            </a:pPr>
            <a:r>
              <a:t>Secure login for students, teachers, and administrators.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4274"/>
                </a:solidFill>
              </a:rPr>
              <a:t>Course page</a:t>
            </a:r>
          </a:p>
        </p:txBody>
      </p:sp>
      <p:pic>
        <p:nvPicPr>
          <p:cNvPr id="3" name="Picture 2" descr="07-course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47320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A2540"/>
                </a:solidFill>
              </a:defRPr>
            </a:pPr>
            <a:r>
              <a:t>Certificate course: AI, Elections &amp; Democratic Governance (POB101).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4274"/>
                </a:solidFill>
              </a:rPr>
              <a:t>Teacher dashboard</a:t>
            </a:r>
          </a:p>
        </p:txBody>
      </p:sp>
      <p:pic>
        <p:nvPicPr>
          <p:cNvPr id="3" name="Picture 2" descr="04-teacher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47320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A2540"/>
                </a:solidFill>
              </a:defRPr>
            </a:pPr>
            <a:r>
              <a:t>Instructor console: live class control, roster, assessments, attendance.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4274"/>
                </a:solidFill>
              </a:rPr>
              <a:t>Live Webex class</a:t>
            </a:r>
          </a:p>
        </p:txBody>
      </p:sp>
      <p:pic>
        <p:nvPicPr>
          <p:cNvPr id="3" name="Picture 2" descr="05-live-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47320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A2540"/>
                </a:solidFill>
              </a:defRPr>
            </a:pPr>
            <a:r>
              <a:t>Students join Webex while keeping the Moodle live class page open.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4274"/>
                </a:solidFill>
              </a:rPr>
              <a:t>Live class MCQ</a:t>
            </a:r>
          </a:p>
        </p:txBody>
      </p:sp>
      <p:pic>
        <p:nvPicPr>
          <p:cNvPr id="3" name="Picture 2" descr="06-live-mcq-man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47320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A2540"/>
                </a:solidFill>
              </a:defRPr>
            </a:pPr>
            <a:r>
              <a:t>Teachers create &amp; release MCQ questions during live sessions.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004274"/>
                </a:solidFill>
              </a:rPr>
              <a:t>Week 1 quiz</a:t>
            </a:r>
          </a:p>
        </p:txBody>
      </p:sp>
      <p:pic>
        <p:nvPicPr>
          <p:cNvPr id="3" name="Picture 2" descr="08-quiz-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412480" cy="47320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6364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A2540"/>
                </a:solidFill>
              </a:defRPr>
            </a:pPr>
            <a:r>
              <a:t>Structured Moodle quiz for weekend assessments.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04274"/>
                </a:solidFill>
                <a:latin typeface="Calibri"/>
              </a:rPr>
              <a:t>Live class + MCQ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1. Teacher opens Dashboard → Live class MCQ → Manage</a:t>
            </a:r>
          </a:p>
          <a:p>
            <a:pPr>
              <a:defRPr sz="2000">
                <a:latin typeface="Calibri"/>
              </a:defRPr>
            </a:pPr>
            <a:r>
              <a:t>2. Add questions → Release to students</a:t>
            </a:r>
          </a:p>
          <a:p>
            <a:pPr>
              <a:defRPr sz="2000">
                <a:latin typeface="Calibri"/>
              </a:defRPr>
            </a:pPr>
            <a:r>
              <a:t>3. Students open Live class page → answer in Live questions panel</a:t>
            </a:r>
          </a:p>
          <a:p>
            <a:pPr>
              <a:defRPr sz="2000">
                <a:latin typeface="Calibri"/>
              </a:defRPr>
            </a:pPr>
            <a:r>
              <a:t>4. Teacher sees submissions &amp; scores in real time</a:t>
            </a:r>
          </a:p>
          <a:p>
            <a:pPr>
              <a:defRPr sz="2000">
                <a:latin typeface="Calibri"/>
              </a:defRPr>
            </a:pPr>
            <a:r>
              <a:t>5. Video/audio stays in Webex; answers stored in Moodle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04274"/>
                </a:solidFill>
                <a:latin typeface="Calibri"/>
              </a:rPr>
              <a:t>Key features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Custom teacher dashboard with assessment summary &amp; per-student quiz tracking</a:t>
            </a:r>
          </a:p>
          <a:p>
            <a:pPr>
              <a:defRPr sz="2000">
                <a:latin typeface="Calibri"/>
              </a:defRPr>
            </a:pPr>
            <a:r>
              <a:t>Live virtual classroom UI with Join Webex button</a:t>
            </a:r>
          </a:p>
          <a:p>
            <a:pPr>
              <a:defRPr sz="2000">
                <a:latin typeface="Calibri"/>
              </a:defRPr>
            </a:pPr>
            <a:r>
              <a:t>Full-screen custom MCQ quiz attempt experience</a:t>
            </a:r>
          </a:p>
          <a:p>
            <a:pPr>
              <a:defRPr sz="2000">
                <a:latin typeface="Calibri"/>
              </a:defRPr>
            </a:pPr>
            <a:r>
              <a:t>Student course reviews &amp; testimonials</a:t>
            </a:r>
          </a:p>
          <a:p>
            <a:pPr>
              <a:defRPr sz="2000">
                <a:latin typeface="Calibri"/>
              </a:defRPr>
            </a:pPr>
            <a:r>
              <a:t>Course fee payment via PNB gateway</a:t>
            </a:r>
          </a:p>
          <a:p>
            <a:pPr>
              <a:defRPr sz="2000">
                <a:latin typeface="Calibri"/>
              </a:defRPr>
            </a:pPr>
            <a:r>
              <a:t>Attendance &amp; certificate management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IIIDEM · Election Commission of India</a:t>
            </a:r>
          </a:p>
          <a:p>
            <a:r>
              <a:t>Moodle LMS Project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530</Words>
  <Application>Microsoft Office PowerPoint</Application>
  <PresentationFormat>On-screen Show (4:3)</PresentationFormat>
  <Paragraphs>108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IIIDEM Certification LMS</vt:lpstr>
      <vt:lpstr>Project overview</vt:lpstr>
      <vt:lpstr>Technology stack</vt:lpstr>
      <vt:lpstr>What is Moodle</vt:lpstr>
      <vt:lpstr>Why Use Moodle? </vt:lpstr>
      <vt:lpstr>PowerPoint Presentation</vt:lpstr>
      <vt:lpstr>Benefits for moodle</vt:lpstr>
      <vt:lpstr>Home page</vt:lpstr>
      <vt:lpstr>Login</vt:lpstr>
      <vt:lpstr>Course page</vt:lpstr>
      <vt:lpstr>Teacher dashboard</vt:lpstr>
      <vt:lpstr>Live Webex class</vt:lpstr>
      <vt:lpstr>Live class MCQ</vt:lpstr>
      <vt:lpstr>Week 1 quiz</vt:lpstr>
      <vt:lpstr>Live class + MCQ workflow</vt:lpstr>
      <vt:lpstr>Key features delivered</vt:lpstr>
      <vt:lpstr>Thank you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IIIDEM Certification LMS</dc:title>
  <dc:subject/>
  <dc:creator/>
  <cp:keywords/>
  <dc:description>generated using python-pptx</dc:description>
  <cp:lastModifiedBy>Jaindra</cp:lastModifiedBy>
  <cp:revision>7</cp:revision>
  <dcterms:created xsi:type="dcterms:W3CDTF">2013-01-27T09:14:16Z</dcterms:created>
  <dcterms:modified xsi:type="dcterms:W3CDTF">2026-06-16T17:13:32Z</dcterms:modified>
  <cp:category/>
</cp:coreProperties>
</file>